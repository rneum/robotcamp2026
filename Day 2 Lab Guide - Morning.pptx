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59" r:id="rId2"/>
    <p:sldMasterId id="2147483669" r:id="rId3"/>
  </p:sldMasterIdLst>
  <p:notesMasterIdLst>
    <p:notesMasterId r:id="rId19"/>
  </p:notesMasterIdLst>
  <p:sldIdLst>
    <p:sldId id="713" r:id="rId4"/>
    <p:sldId id="1016" r:id="rId5"/>
    <p:sldId id="990" r:id="rId6"/>
    <p:sldId id="1018" r:id="rId7"/>
    <p:sldId id="1017" r:id="rId8"/>
    <p:sldId id="1019" r:id="rId9"/>
    <p:sldId id="1020" r:id="rId10"/>
    <p:sldId id="1025" r:id="rId11"/>
    <p:sldId id="1021" r:id="rId12"/>
    <p:sldId id="1022" r:id="rId13"/>
    <p:sldId id="1023" r:id="rId14"/>
    <p:sldId id="1024" r:id="rId15"/>
    <p:sldId id="1027" r:id="rId16"/>
    <p:sldId id="1026" r:id="rId17"/>
    <p:sldId id="1028" r:id="rId18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713"/>
            <p14:sldId id="1016"/>
            <p14:sldId id="990"/>
            <p14:sldId id="1018"/>
            <p14:sldId id="1017"/>
            <p14:sldId id="1019"/>
            <p14:sldId id="1020"/>
            <p14:sldId id="1025"/>
            <p14:sldId id="1021"/>
            <p14:sldId id="1022"/>
            <p14:sldId id="1023"/>
            <p14:sldId id="1024"/>
            <p14:sldId id="1027"/>
            <p14:sldId id="1026"/>
            <p14:sldId id="10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5700"/>
    <a:srgbClr val="FFFFFF"/>
    <a:srgbClr val="DE7E7A"/>
    <a:srgbClr val="C6531F"/>
    <a:srgbClr val="79C82A"/>
    <a:srgbClr val="C01338"/>
    <a:srgbClr val="C00000"/>
    <a:srgbClr val="D61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0426" autoAdjust="0"/>
  </p:normalViewPr>
  <p:slideViewPr>
    <p:cSldViewPr>
      <p:cViewPr>
        <p:scale>
          <a:sx n="101" d="100"/>
          <a:sy n="101" d="100"/>
        </p:scale>
        <p:origin x="132" y="5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7/27/2026</a:t>
            </a:fld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27025" y="700088"/>
            <a:ext cx="6203950" cy="34909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04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587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478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1650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069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7"/>
            <a:ext cx="7772400" cy="1102995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7360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4470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4470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90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920884"/>
            <a:ext cx="5111751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90" y="1601630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21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86" y="438150"/>
            <a:ext cx="8229600" cy="85725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390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85725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49028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49028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90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1" y="920884"/>
            <a:ext cx="5111751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90" y="1601630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21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4036618" y="-131362"/>
            <a:ext cx="2571750" cy="68349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819150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2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2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1" y="3105150"/>
            <a:ext cx="561975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6" y="4171953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1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1" dirty="0"/>
              <a:t>Position/Role,</a:t>
            </a:r>
            <a:r>
              <a:rPr lang="en-US" sz="1051" baseline="0" dirty="0"/>
              <a:t> The University of Texas at Austin</a:t>
            </a:r>
            <a:endParaRPr lang="en-US" sz="1051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2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hdr="0" ftr="0" dt="0"/>
  <p:txStyles>
    <p:titleStyle>
      <a:lvl1pPr algn="l" defTabSz="914354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65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hf hdr="0" ftr="0" dt="0"/>
  <p:txStyles>
    <p:titleStyle>
      <a:lvl1pPr algn="l" defTabSz="457178" rtl="0" eaLnBrk="1" latinLnBrk="0" hangingPunct="1"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Arial"/>
          <a:ea typeface="+mj-ea"/>
          <a:cs typeface="+mj-cs"/>
        </a:defRPr>
      </a:lvl1pPr>
    </p:titleStyle>
    <p:bodyStyle>
      <a:lvl1pPr marL="342882" indent="-342882" algn="l" defTabSz="457178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Arial"/>
          <a:ea typeface="+mn-ea"/>
          <a:cs typeface="+mn-cs"/>
        </a:defRPr>
      </a:lvl1pPr>
      <a:lvl2pPr marL="742913" indent="-285737" algn="l" defTabSz="457178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85000"/>
              <a:lumOff val="15000"/>
            </a:schemeClr>
          </a:solidFill>
          <a:latin typeface="Arial"/>
          <a:ea typeface="+mn-ea"/>
          <a:cs typeface="+mn-cs"/>
        </a:defRPr>
      </a:lvl2pPr>
      <a:lvl3pPr marL="1142942" indent="-228589" algn="l" defTabSz="457178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Arial"/>
          <a:ea typeface="+mn-ea"/>
          <a:cs typeface="+mn-cs"/>
        </a:defRPr>
      </a:lvl3pPr>
      <a:lvl4pPr marL="1600120" indent="-228589" algn="l" defTabSz="457178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85000"/>
              <a:lumOff val="15000"/>
            </a:schemeClr>
          </a:solidFill>
          <a:latin typeface="Arial"/>
          <a:ea typeface="+mn-ea"/>
          <a:cs typeface="+mn-cs"/>
        </a:defRPr>
      </a:lvl4pPr>
      <a:lvl5pPr marL="2057298" indent="-228589" algn="l" defTabSz="457178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85000"/>
              <a:lumOff val="15000"/>
            </a:schemeClr>
          </a:solidFill>
          <a:latin typeface="Arial"/>
          <a:ea typeface="+mn-ea"/>
          <a:cs typeface="+mn-cs"/>
        </a:defRPr>
      </a:lvl5pPr>
      <a:lvl6pPr marL="2514474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  <p:sldLayoutId id="2147483658" r:id="rId7"/>
  </p:sldLayoutIdLst>
  <p:hf hdr="0" ftr="0" dt="0"/>
  <p:txStyles>
    <p:titleStyle>
      <a:lvl1pPr algn="l" defTabSz="457178" rtl="0" eaLnBrk="1" latinLnBrk="0" hangingPunct="1"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"/>
          <a:ea typeface="+mj-ea"/>
          <a:cs typeface="+mj-cs"/>
        </a:defRPr>
      </a:lvl1pPr>
    </p:titleStyle>
    <p:bodyStyle>
      <a:lvl1pPr marL="342882" indent="-342882" algn="l" defTabSz="457178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13" indent="-285737" algn="l" defTabSz="457178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42" indent="-228589" algn="l" defTabSz="457178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20" indent="-228589" algn="l" defTabSz="457178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298" indent="-228589" algn="l" defTabSz="457178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474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5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1" y="3105150"/>
            <a:ext cx="561975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2" y="4114803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1" cap="all" dirty="0">
                <a:latin typeface="Arial Black" charset="0"/>
              </a:rPr>
              <a:t>Ross </a:t>
            </a:r>
            <a:r>
              <a:rPr lang="en-US" sz="1051" cap="all" dirty="0" err="1">
                <a:latin typeface="Arial Black" charset="0"/>
              </a:rPr>
              <a:t>neuman</a:t>
            </a:r>
            <a:endParaRPr lang="en-US" sz="1051" cap="all" dirty="0">
              <a:latin typeface="Arial Black" charset="0"/>
            </a:endParaRP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1" dirty="0"/>
              <a:t>Assistant Professor of Practice, The University of Texas at Austin</a:t>
            </a:r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2" y="457201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cap="all" dirty="0">
                <a:latin typeface="Arial Black" charset="0"/>
              </a:rPr>
              <a:t>Summer 2026</a:t>
            </a:r>
            <a:endParaRPr lang="en-US" sz="1200" dirty="0"/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2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Longhorn </a:t>
            </a:r>
            <a:r>
              <a:rPr lang="en-US" dirty="0" err="1"/>
              <a:t>hapkit</a:t>
            </a:r>
            <a:endParaRPr lang="en-US" dirty="0"/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2" y="3333752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Lab guide #2 </a:t>
            </a:r>
            <a:r>
              <a:rPr lang="en-US"/>
              <a:t>- morning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00" y="320041"/>
            <a:ext cx="1877397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0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1A005-9FF3-BE8F-DB67-A3CA1AE85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62150"/>
            <a:ext cx="8077200" cy="1125140"/>
          </a:xfrm>
        </p:spPr>
        <p:txBody>
          <a:bodyPr>
            <a:normAutofit/>
          </a:bodyPr>
          <a:lstStyle/>
          <a:p>
            <a:r>
              <a:rPr lang="en-US" sz="3200" dirty="0"/>
              <a:t>https://github.com/rneum/RobotCamp2026</a:t>
            </a:r>
          </a:p>
        </p:txBody>
      </p:sp>
    </p:spTree>
    <p:extLst>
      <p:ext uri="{BB962C8B-B14F-4D97-AF65-F5344CB8AC3E}">
        <p14:creationId xmlns:p14="http://schemas.microsoft.com/office/powerpoint/2010/main" val="1161770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D3E6-0ACC-0639-1B04-0AA829EC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Kinematics for handle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CEED3F-6CFF-5231-6F60-9D1D290D16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31" y="1352615"/>
                <a:ext cx="6477000" cy="33909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Recall the kinematics discussed</a:t>
                </a:r>
              </a:p>
              <a:p>
                <a:r>
                  <a:rPr lang="en-US" dirty="0"/>
                  <a:t>Write code that will report the position </a:t>
                </a:r>
                <a:r>
                  <a:rPr lang="en-US" dirty="0" err="1"/>
                  <a:t>x_handle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𝑝𝑢𝑙𝑙𝑒𝑦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𝑠𝑒𝑐𝑡𝑜𝑟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h𝑎𝑛𝑑𝑙𝑒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𝑝𝑢𝑙𝑙𝑒𝑦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𝑒𝑛𝑐𝑜𝑑𝑒𝑟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𝑟𝑒𝑎𝑑𝑖𝑛𝑔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𝑟𝑎𝑑𝑖𝑎𝑛𝑠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CEED3F-6CFF-5231-6F60-9D1D290D16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31" y="1352615"/>
                <a:ext cx="6477000" cy="3390900"/>
              </a:xfrm>
              <a:blipFill>
                <a:blip r:embed="rId2"/>
                <a:stretch>
                  <a:fillRect l="-1881" t="-4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20E935F-7769-6CEB-FB94-9AF46F63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3307957"/>
            <a:ext cx="2186305" cy="195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475A14-25F5-B4B0-453B-30FAA1F6F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181" y="3680461"/>
            <a:ext cx="1795145" cy="167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70E4BB-AED7-1B84-D0A0-C50C1881540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724"/>
          <a:stretch/>
        </p:blipFill>
        <p:spPr>
          <a:xfrm>
            <a:off x="6705600" y="4123996"/>
            <a:ext cx="2346960" cy="9709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25FD48-1A0D-97E7-C471-D0E73550F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674" y="624293"/>
            <a:ext cx="1664442" cy="238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3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C7A9-693A-944A-E636-7147A27C5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Kinematics for handle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132B-26EF-F306-06B4-8DCEA7404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1239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Code should look something like this</a:t>
            </a:r>
          </a:p>
          <a:p>
            <a:r>
              <a:rPr lang="en-US" dirty="0" err="1"/>
              <a:t>xh</a:t>
            </a:r>
            <a:r>
              <a:rPr lang="en-US" dirty="0"/>
              <a:t> is the position of the handle in cm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7F955C-E6A4-253A-53EC-CEEC693E5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855" y="2724151"/>
            <a:ext cx="671606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3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A317-F41A-9AEC-A01D-67C6848D1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666750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Now we will use this position to inform: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6D2ED-AE6F-4ED0-DDB0-76C00870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3550"/>
            <a:ext cx="8229600" cy="2952750"/>
          </a:xfrm>
        </p:spPr>
        <p:txBody>
          <a:bodyPr/>
          <a:lstStyle/>
          <a:p>
            <a:r>
              <a:rPr lang="en-US" dirty="0"/>
              <a:t>A virtual spring</a:t>
            </a:r>
          </a:p>
          <a:p>
            <a:r>
              <a:rPr lang="en-US" dirty="0"/>
              <a:t>A virtual wall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0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D10D-C95B-8FE6-88FC-74E189F0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Spring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52D9C8-0FC5-C34D-6D34-8C6202A9A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4191000" cy="3390900"/>
              </a:xfrm>
            </p:spPr>
            <p:txBody>
              <a:bodyPr>
                <a:normAutofit fontScale="55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𝑠𝑝𝑟𝑖𝑛𝑔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h𝑎𝑛𝑑𝑙𝑒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This is also known as “Hooke’s Law”</a:t>
                </a:r>
                <a:endParaRPr lang="en-US" b="0" dirty="0"/>
              </a:p>
              <a:p>
                <a:r>
                  <a:rPr lang="en-US" dirty="0"/>
                  <a:t>“k” is your spring constant, or stiffness</a:t>
                </a:r>
              </a:p>
              <a:p>
                <a:r>
                  <a:rPr lang="en-US" dirty="0"/>
                  <a:t>You should play around with different values of k to see what the limits of your </a:t>
                </a:r>
                <a:r>
                  <a:rPr lang="en-US" dirty="0" err="1"/>
                  <a:t>hapkit</a:t>
                </a:r>
                <a:r>
                  <a:rPr lang="en-US" dirty="0"/>
                  <a:t> feel like</a:t>
                </a:r>
              </a:p>
              <a:p>
                <a:r>
                  <a:rPr lang="en-US" dirty="0" err="1"/>
                  <a:t>F_spring</a:t>
                </a:r>
                <a:r>
                  <a:rPr lang="en-US" dirty="0"/>
                  <a:t>, for our purposes, will just be the command sent to the motor</a:t>
                </a:r>
              </a:p>
              <a:p>
                <a:pPr lvl="1"/>
                <a:r>
                  <a:rPr lang="en-US" dirty="0"/>
                  <a:t>This is because we are equating our voltage command to the motor with the amount of force produced</a:t>
                </a:r>
              </a:p>
              <a:p>
                <a:pPr lvl="1"/>
                <a:r>
                  <a:rPr lang="en-US" dirty="0"/>
                  <a:t>This is not correct, but works okay for this situation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52D9C8-0FC5-C34D-6D34-8C6202A9A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4191000" cy="3390900"/>
              </a:xfrm>
              <a:blipFill>
                <a:blip r:embed="rId2"/>
                <a:stretch>
                  <a:fillRect l="-872" t="-360" r="-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17DA92B-0CC3-A43F-11A1-4FB9720EC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819150"/>
            <a:ext cx="2568087" cy="26708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AAC6C6-983C-17A9-63EE-BD0EE38B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943350"/>
            <a:ext cx="2648320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5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2D49-D94A-3EDF-6F29-6BEBF6B5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Virtual 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E59CA-E2E1-E2FF-73AB-151F5D272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3276600" cy="33909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Decide on a location for your wall</a:t>
            </a:r>
          </a:p>
          <a:p>
            <a:r>
              <a:rPr lang="en-US" dirty="0"/>
              <a:t>Write a conditional statement (if/else) that will command a very high stiffness once you are “inside” the wall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2EEAA-DA25-0D37-54A6-A9D96D450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21019"/>
            <a:ext cx="3750750" cy="31667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6E59E-8603-485A-EE0D-D64AFBF10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123950"/>
            <a:ext cx="3276600" cy="99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07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2B581-AC31-DBBE-CFF1-9EF89929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your virtual 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6B0C4-6300-BF10-74CD-72AE66DA1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moving the wall around</a:t>
            </a:r>
          </a:p>
          <a:p>
            <a:pPr lvl="1"/>
            <a:r>
              <a:rPr lang="en-US" dirty="0"/>
              <a:t>Place at +3cm</a:t>
            </a:r>
          </a:p>
          <a:p>
            <a:pPr lvl="1"/>
            <a:r>
              <a:rPr lang="en-US" dirty="0"/>
              <a:t>Place at -2cm</a:t>
            </a:r>
          </a:p>
          <a:p>
            <a:pPr lvl="1"/>
            <a:r>
              <a:rPr lang="en-US" dirty="0"/>
              <a:t>Place two virtual walls </a:t>
            </a:r>
            <a:r>
              <a:rPr lang="en-US" dirty="0" err="1"/>
              <a:t>simulateously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305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420D-3770-EC6D-D3C8-7F639E05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serial to send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80A71-10AB-E6B2-CEF2-6076B0C15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3886200" cy="33909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Serial can also be used to send commands, not just read out what the program is offering</a:t>
            </a:r>
          </a:p>
          <a:p>
            <a:r>
              <a:rPr lang="en-US" dirty="0" err="1"/>
              <a:t>Serial.read</a:t>
            </a:r>
            <a:r>
              <a:rPr lang="en-US" dirty="0"/>
              <a:t>() tells the serial monitor to read commands the user is entering when available</a:t>
            </a:r>
          </a:p>
          <a:p>
            <a:r>
              <a:rPr lang="en-US" dirty="0"/>
              <a:t>Set serial monitor to “no line ending”</a:t>
            </a:r>
          </a:p>
          <a:p>
            <a:r>
              <a:rPr lang="en-US" dirty="0"/>
              <a:t>Create a new variable called “mode” that you will use to tell the program which haptic environment to render</a:t>
            </a:r>
          </a:p>
          <a:p>
            <a:pPr lvl="1"/>
            <a:r>
              <a:rPr lang="en-US" dirty="0"/>
              <a:t>Put this at the top where you are declaring other variables like pos, </a:t>
            </a:r>
            <a:r>
              <a:rPr lang="en-US" dirty="0" err="1"/>
              <a:t>xh</a:t>
            </a:r>
            <a:r>
              <a:rPr lang="en-US" dirty="0"/>
              <a:t>, etc.</a:t>
            </a:r>
          </a:p>
          <a:p>
            <a:r>
              <a:rPr lang="en-US" dirty="0"/>
              <a:t>Now in loop() you can read for the mode</a:t>
            </a:r>
          </a:p>
          <a:p>
            <a:r>
              <a:rPr lang="en-US" dirty="0"/>
              <a:t>Continued on next page…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80290-631B-8BB3-9C75-CF778A8D2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105150"/>
            <a:ext cx="3572374" cy="609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C4A722-EB48-52EC-C47E-8CB0E821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858" y="4071022"/>
            <a:ext cx="3439370" cy="8262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2C135F-130F-0411-67D2-6F3078B3DA82}"/>
              </a:ext>
            </a:extLst>
          </p:cNvPr>
          <p:cNvSpPr txBox="1"/>
          <p:nvPr/>
        </p:nvSpPr>
        <p:spPr>
          <a:xfrm>
            <a:off x="5019502" y="2671337"/>
            <a:ext cx="3797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variable declarations: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CF28F5-2E7E-BE49-9C4A-6B7014B8222C}"/>
              </a:ext>
            </a:extLst>
          </p:cNvPr>
          <p:cNvSpPr txBox="1"/>
          <p:nvPr/>
        </p:nvSpPr>
        <p:spPr>
          <a:xfrm>
            <a:off x="4992858" y="3609357"/>
            <a:ext cx="1399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loop():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E7721B-882C-BC22-4F37-96DE49EBD0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665"/>
          <a:stretch>
            <a:fillRect/>
          </a:stretch>
        </p:blipFill>
        <p:spPr>
          <a:xfrm>
            <a:off x="5154215" y="1089132"/>
            <a:ext cx="3572374" cy="150025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C9D29E-84A1-7546-29C1-AA5EFECD0193}"/>
              </a:ext>
            </a:extLst>
          </p:cNvPr>
          <p:cNvSpPr/>
          <p:nvPr/>
        </p:nvSpPr>
        <p:spPr>
          <a:xfrm>
            <a:off x="5692729" y="1504950"/>
            <a:ext cx="1546271" cy="584554"/>
          </a:xfrm>
          <a:prstGeom prst="rect">
            <a:avLst/>
          </a:prstGeom>
          <a:noFill/>
          <a:ln w="28575">
            <a:solidFill>
              <a:srgbClr val="BF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81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A1F8-6F3B-67AB-9331-2174D1EDB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Commanding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C5D55-D7B3-316C-2BA6-36A7CCEBC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3733800" cy="33909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code shown to the side implements a </a:t>
            </a:r>
            <a:r>
              <a:rPr lang="en-US" i="1" dirty="0"/>
              <a:t>switch statement</a:t>
            </a:r>
            <a:r>
              <a:rPr lang="en-US" dirty="0"/>
              <a:t> that allows you to switch between your spring and wall mode without re-uploading the code</a:t>
            </a:r>
          </a:p>
          <a:p>
            <a:r>
              <a:rPr lang="en-US" dirty="0"/>
              <a:t>You can add more cases to this statement as you develop more virtual environments if you like this workflow better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340E3C-F5BC-E5D5-C8C7-4BDA228C1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819150"/>
            <a:ext cx="2077772" cy="402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61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6A984-5AA7-4421-1784-D37B738B1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 zeroing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7D8D4-2B46-D431-8E01-8C05087DE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4343400" cy="33909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Another convenient function is to have one that resets the encoder to 0</a:t>
            </a:r>
          </a:p>
          <a:p>
            <a:pPr lvl="1"/>
            <a:r>
              <a:rPr lang="en-US" dirty="0"/>
              <a:t>If your capstan slips at all, use this to re-establish your x = 0 point</a:t>
            </a:r>
          </a:p>
          <a:p>
            <a:r>
              <a:rPr lang="en-US" dirty="0"/>
              <a:t>Simply use </a:t>
            </a:r>
            <a:r>
              <a:rPr lang="en-US" dirty="0" err="1"/>
              <a:t>encoder.write</a:t>
            </a:r>
            <a:r>
              <a:rPr lang="en-US" dirty="0"/>
              <a:t>() to tell it the position is now 0</a:t>
            </a:r>
          </a:p>
          <a:p>
            <a:r>
              <a:rPr lang="en-US" dirty="0"/>
              <a:t>I like to make this my “0” function in the switch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1AF3A-2C8B-81FA-F2DB-94E11BE2D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581150"/>
            <a:ext cx="2781688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24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B0DB-0CF8-7A3E-7A94-A96E8D654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a simple “bump”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B6EC7-CB2D-A960-694B-F7AFBAD77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3581400" cy="33909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Place a “bump” at a desired location</a:t>
            </a:r>
          </a:p>
          <a:p>
            <a:r>
              <a:rPr lang="en-US" dirty="0"/>
              <a:t>Play around with the parameters (width, force, location)</a:t>
            </a:r>
          </a:p>
          <a:p>
            <a:r>
              <a:rPr lang="en-US" dirty="0"/>
              <a:t>Try creating multiple bumps</a:t>
            </a:r>
          </a:p>
          <a:p>
            <a:r>
              <a:rPr lang="en-US" dirty="0"/>
              <a:t>See if you can design a way to make this bump feel more realistic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F2A519-3347-B7CE-954D-05F50E6B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581150"/>
            <a:ext cx="4062820" cy="266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34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8F37-DB99-AB49-B2DB-1C5522C85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realistic bump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CF676-9B97-9D31-1C62-BE03CAE3C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2895600" cy="33909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real bump will push against you on the way “up” and then help you along on the way “down”</a:t>
            </a:r>
          </a:p>
          <a:p>
            <a:r>
              <a:rPr lang="en-US" dirty="0"/>
              <a:t>Turn this bump into a valley instead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1F3DC-5822-3916-8A67-BF74A1C9E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952750"/>
            <a:ext cx="4049486" cy="2043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61AD91-5478-FE3F-BCE4-4F184EC97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416998"/>
            <a:ext cx="3224427" cy="239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29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8E3B8-1208-6ECD-A731-9C92EDE6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82" y="637584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Bump and Valley – Continued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753CE-CD2F-E987-EB56-E572980F6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52600"/>
            <a:ext cx="7723902" cy="2266950"/>
          </a:xfrm>
        </p:spPr>
        <p:txBody>
          <a:bodyPr>
            <a:normAutofit/>
          </a:bodyPr>
          <a:lstStyle/>
          <a:p>
            <a:r>
              <a:rPr lang="en-US" dirty="0"/>
              <a:t>For an extra challenge--can you make it feel like a smooth hill instead?</a:t>
            </a:r>
          </a:p>
          <a:p>
            <a:pPr lvl="1"/>
            <a:r>
              <a:rPr lang="en-US" dirty="0"/>
              <a:t>Could use sinusoids</a:t>
            </a:r>
          </a:p>
          <a:p>
            <a:pPr lvl="1"/>
            <a:r>
              <a:rPr lang="en-US" dirty="0"/>
              <a:t>Could use piecewise functions</a:t>
            </a:r>
          </a:p>
        </p:txBody>
      </p:sp>
    </p:spTree>
    <p:extLst>
      <p:ext uri="{BB962C8B-B14F-4D97-AF65-F5344CB8AC3E}">
        <p14:creationId xmlns:p14="http://schemas.microsoft.com/office/powerpoint/2010/main" val="1567193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F8252-EAC5-597B-EDC6-9B51E379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6750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 to experiment with Composing virtual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73B79-0851-5524-CFF1-57F3DC022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3550"/>
            <a:ext cx="8229600" cy="2952750"/>
          </a:xfrm>
        </p:spPr>
        <p:txBody>
          <a:bodyPr/>
          <a:lstStyle/>
          <a:p>
            <a:r>
              <a:rPr lang="en-US" dirty="0"/>
              <a:t>Get creative, see what you can make!</a:t>
            </a:r>
          </a:p>
        </p:txBody>
      </p:sp>
    </p:spTree>
    <p:extLst>
      <p:ext uri="{BB962C8B-B14F-4D97-AF65-F5344CB8AC3E}">
        <p14:creationId xmlns:p14="http://schemas.microsoft.com/office/powerpoint/2010/main" val="1801059171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Light Backgroun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White Backgr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66760</TotalTime>
  <Words>592</Words>
  <Application>Microsoft Office PowerPoint</Application>
  <PresentationFormat>On-screen Show (16:9)</PresentationFormat>
  <Paragraphs>68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Cambria Math</vt:lpstr>
      <vt:lpstr>16-9 Cover</vt:lpstr>
      <vt:lpstr>16-9 Light Background</vt:lpstr>
      <vt:lpstr>16-9 White Backgroud</vt:lpstr>
      <vt:lpstr>PowerPoint Presentation</vt:lpstr>
      <vt:lpstr>PowerPoint Presentation</vt:lpstr>
      <vt:lpstr>Kinematics for handle</vt:lpstr>
      <vt:lpstr>Kinematics for handle</vt:lpstr>
      <vt:lpstr>Now we will use this position to inform:</vt:lpstr>
      <vt:lpstr>Virtual Spring</vt:lpstr>
      <vt:lpstr>Create a Virtual Wall</vt:lpstr>
      <vt:lpstr>With your virtual wall</vt:lpstr>
      <vt:lpstr>Use serial to send commands</vt:lpstr>
      <vt:lpstr>Commanding Modes</vt:lpstr>
      <vt:lpstr>Make a zeroing function</vt:lpstr>
      <vt:lpstr>Make a simple “bump”</vt:lpstr>
      <vt:lpstr>More realistic bump</vt:lpstr>
      <vt:lpstr>Bump and Valley – Continued Improvement</vt:lpstr>
      <vt:lpstr>Continue to experiment with Composing virtual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University Marketing and Creative Services</dc:creator>
  <cp:keywords/>
  <dc:description/>
  <cp:lastModifiedBy>Neuman, Ross M</cp:lastModifiedBy>
  <cp:revision>513</cp:revision>
  <cp:lastPrinted>2020-10-21T19:53:44Z</cp:lastPrinted>
  <dcterms:created xsi:type="dcterms:W3CDTF">2011-06-30T15:04:08Z</dcterms:created>
  <dcterms:modified xsi:type="dcterms:W3CDTF">2026-07-28T13:49:49Z</dcterms:modified>
  <cp:category/>
</cp:coreProperties>
</file>